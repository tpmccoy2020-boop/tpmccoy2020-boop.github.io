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0B0A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0B0B0A"/>
                </a:solidFill>
                <a:latin typeface="Georgia"/>
              </a:rPr>
              <a:t>Net Surplus / (Loss) per Event Year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 P&amp;L</c:v>
                </c:pt>
              </c:strCache>
            </c:strRef>
          </c:tx>
          <c:spPr>
            <a:solidFill>
              <a:srgbClr val="A0032A">
                <a:alpha val="100000"/>
              </a:srgbClr>
            </a:solidFill>
            <a:effectLst/>
          </c:spPr>
          <c:invertIfNegative val="0"/>
          <c:dLbls>
            <c:numFmt formatCode="$#,##0;($#,##0)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-9800</c:v>
                </c:pt>
                <c:pt idx="1">
                  <c:v>-4200</c:v>
                </c:pt>
                <c:pt idx="2">
                  <c:v>-1100</c:v>
                </c:pt>
                <c:pt idx="3">
                  <c:v>6500</c:v>
                </c:pt>
              </c:numCache>
            </c:numRef>
          </c:val>
        </c:ser>
        <c:dLbls>
          <c:numFmt formatCode="$#,##0;($#,##0)" sourceLinked="0"/>
          <c:txPr>
            <a:bodyPr/>
            <a:lstStyle/>
            <a:p>
              <a:pPr>
                <a:defRPr b="0" i="0" strike="noStrike" sz="900" u="none">
                  <a:solidFill>
                    <a:srgbClr val="0B0B0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B0B0A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2A2724"/>
              </a:solidFill>
              <a:prstDash val="solid"/>
              <a:round/>
            </a:ln>
          </c:spPr>
        </c:majorGridlines>
        <c:numFmt formatCode="$#,##0;($#,##0)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65E"/>
                </a:solidFill>
                <a:latin typeface="Consola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1E5"/>
        </a:solidFill>
        <a:ln>
          <a:noFill/>
        </a:ln>
        <a:effectLst/>
      </c:spPr>
    </c:plotArea>
    <c:plotVisOnly val="1"/>
    <c:dispBlanksAs val="span"/>
  </c:chart>
  <c:spPr>
    <a:solidFill>
      <a:srgbClr val="FFF1E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Trip Compliance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0B0A"/>
              </a:solidFill>
              <a:effectLst/>
            </c:spPr>
          </c:dPt>
          <c:dPt>
            <c:idx val="1"/>
            <c:bubble3D val="0"/>
            <c:spPr>
              <a:solidFill>
                <a:srgbClr val="C8A04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Under Budget</c:v>
                </c:pt>
                <c:pt idx="1">
                  <c:v>Over Budget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95</c:v>
                </c:pt>
                <c:pt idx="1">
                  <c:v>5</c:v>
                </c:pt>
              </c:numCache>
            </c:numRef>
          </c:val>
        </c:ser>
        <c:firstSliceAng val="0"/>
        <c:holeSize val="62"/>
      </c:doughnutChart>
      <c:spPr>
        <a:solidFill>
          <a:srgbClr val="FFF1E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B0B0A"/>
              </a:solidFill>
              <a:latin typeface="Consolas"/>
              <a:cs typeface="Consolas"/>
            </a:defRPr>
          </a:pPr>
          <a:endParaRPr lang="en-US"/>
        </a:p>
      </c:txPr>
    </c:legend>
    <c:plotVisOnly val="1"/>
    <c:dispBlanksAs val="span"/>
  </c:chart>
  <c:spPr>
    <a:solidFill>
      <a:srgbClr val="FFF1E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1064240" cy="0"/>
          </a:xfrm>
          <a:prstGeom prst="line">
            <a:avLst/>
          </a:prstGeom>
          <a:noFill/>
          <a:ln w="9525">
            <a:solidFill>
              <a:srgbClr val="FFF1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LIVE TAPE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F1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/  FINANCIAL IMPACT DOSSIER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955280" y="274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FY 2025  —  EDITION 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PORTFOLIO BY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0" spc="-3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Thomas</a:t>
            </a:r>
            <a:endParaRPr lang="en-US" sz="10000" dirty="0"/>
          </a:p>
          <a:p>
            <a:pPr indent="0" marL="0">
              <a:buNone/>
            </a:pPr>
            <a:r>
              <a:rPr lang="en-US" sz="10000" spc="-3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</a:t>
            </a:r>
            <a:pPr indent="0" marL="0">
              <a:buNone/>
            </a:pPr>
            <a:r>
              <a:rPr lang="en-US" sz="10000" i="1" spc="-300" kern="0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Coy.</a:t>
            </a:r>
            <a:endParaRPr lang="en-US" sz="100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Impact Portfolio  </a:t>
            </a:r>
            <a:pPr indent="0" marL="0">
              <a:buNone/>
            </a:pPr>
            <a:r>
              <a:rPr lang="en-US" sz="220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</a:t>
            </a:r>
            <a:pPr indent="0" marL="0">
              <a:buNone/>
            </a:pPr>
            <a:r>
              <a:rPr lang="en-US" sz="2200" i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Senior Accountant &amp; Grant Auditor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937760"/>
            <a:ext cx="11064240" cy="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85232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4400" y="5120640"/>
            <a:ext cx="332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14400" y="5376672"/>
            <a:ext cx="332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tpmccoy2020@gmail.com</a:t>
            </a:r>
            <a:endParaRPr lang="en-US" sz="1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720" y="5285232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02480" y="5120640"/>
            <a:ext cx="332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602480" y="5376672"/>
            <a:ext cx="332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480.828.1125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528523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90560" y="5120640"/>
            <a:ext cx="332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8290560" y="5376672"/>
            <a:ext cx="332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Gilbert, AZ — Open to Relocation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IMPACT PORTFOLIO  /  FY 2025  /  © MMXXVI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PROFESSIONAL 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02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051560"/>
            <a:ext cx="676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</a:t>
            </a:r>
            <a:pPr indent="0" marL="0">
              <a:buNone/>
            </a:pPr>
            <a:r>
              <a:rPr lang="en-US" sz="48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clarity</a:t>
            </a:r>
            <a:pPr indent="0" marL="0">
              <a:buNone/>
            </a:pPr>
            <a:r>
              <a:rPr lang="en-US" sz="48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endParaRPr lang="en-US" sz="4800" dirty="0"/>
          </a:p>
          <a:p>
            <a:pPr indent="0" marL="0">
              <a:buNone/>
            </a:pPr>
            <a:r>
              <a:rPr lang="en-US" sz="48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</a:t>
            </a:r>
            <a:pPr indent="0" marL="0">
              <a:buNone/>
            </a:pPr>
            <a:r>
              <a:rPr lang="en-US" sz="48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complex </a:t>
            </a:r>
            <a:endParaRPr lang="en-US" sz="4800" dirty="0"/>
          </a:p>
          <a:p>
            <a:pPr indent="0" marL="0">
              <a:buNone/>
            </a:pPr>
            <a:r>
              <a:rPr lang="en-US" sz="48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systems.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6766560" cy="0"/>
          </a:xfrm>
          <a:prstGeom prst="line">
            <a:avLst/>
          </a:prstGeom>
          <a:noFill/>
          <a:ln w="6350">
            <a:solidFill>
              <a:srgbClr val="0B0B0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45736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47091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&amp; COMPLIANCE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840480" y="47091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/ SAAM regulatory oversight · grant audit · internal controls</a:t>
            </a:r>
            <a:endParaRPr lang="en-US" sz="11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21224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68680" y="51846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REPORTING &amp; RECONCILIATION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840480" y="51846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Full-cycle AP/AR · multi-fund reconciliation · month- and year-end closeouts</a:t>
            </a:r>
            <a:endParaRPr lang="en-US" sz="11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696712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680" y="56601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&amp; STEWARDSHIP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3840480" y="5660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forecasting · subgrantee liaison · agency-director partnership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680960" y="1051560"/>
            <a:ext cx="3931920" cy="521208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552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THE DESK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7955280" y="1600200"/>
            <a:ext cx="3474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and accounting professional with expertise in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audit, AP/AR, and regulatory compliance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public and private sectors.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ability to strengthen internal controls, streamline financial processes, and ensure accurate, timely reporting.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B0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at collaborating with cross-functional stakeholders to bring clarity and efficiency to complex financial systems in fast-paced environments.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 SNAPSHOT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03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Accountant</a:t>
            </a:r>
            <a:pPr indent="0" marL="0">
              <a:buNone/>
            </a:pPr>
            <a:r>
              <a:rPr lang="en-US" sz="44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&amp; </a:t>
            </a:r>
            <a:pPr indent="0" marL="0">
              <a:buNone/>
            </a:pPr>
            <a:r>
              <a:rPr lang="en-US" sz="4400" i="1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 Auditor.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OF ARIZONA  ·  GOVERNOR'S OFFICE  ·  MAY 2021 — PRESENT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3614928" cy="16459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514600"/>
            <a:ext cx="64008" cy="164592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715768"/>
            <a:ext cx="310896" cy="31089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61872" y="2651760"/>
            <a:ext cx="2810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Funds Stewardship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04672" y="3172968"/>
            <a:ext cx="3212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and reconciled payments, transfers, and audits across State and Federal funds inside AZ360.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73296" y="2514600"/>
            <a:ext cx="3614928" cy="16459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3296" y="2514600"/>
            <a:ext cx="64008" cy="164592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328" y="2715768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986528" y="2651760"/>
            <a:ext cx="2810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Full-Cycle AP / AR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529328" y="3172968"/>
            <a:ext cx="3212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Billing, collections, ACH setup, vendor profiles, invoice processing, and disbursements under GAAP/SAAM.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997952" y="2514600"/>
            <a:ext cx="3614928" cy="16459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997952" y="2514600"/>
            <a:ext cx="64008" cy="164592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984" y="2715768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711184" y="2651760"/>
            <a:ext cx="2810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Budget Operations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253984" y="3172968"/>
            <a:ext cx="3212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travel budgets and policy for the Governor's Office — booked, coordinated, and compliance-monitored.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48640" y="4270248"/>
            <a:ext cx="3614928" cy="16459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4270248"/>
            <a:ext cx="64008" cy="164592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471416"/>
            <a:ext cx="310896" cy="31089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261872" y="4407408"/>
            <a:ext cx="2810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Dashboards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804672" y="4928616"/>
            <a:ext cx="3212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Smartsheet, and Access models for allocation tracking and informed decision-making.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73296" y="4270248"/>
            <a:ext cx="3614928" cy="16459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273296" y="4270248"/>
            <a:ext cx="64008" cy="164592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9328" y="4471416"/>
            <a:ext cx="310896" cy="31089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986528" y="4407408"/>
            <a:ext cx="2810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&amp; Year-End Close</a:t>
            </a:r>
            <a:endParaRPr lang="en-US" sz="1600" dirty="0"/>
          </a:p>
        </p:txBody>
      </p:sp>
      <p:sp>
        <p:nvSpPr>
          <p:cNvPr id="35" name="Text 28"/>
          <p:cNvSpPr/>
          <p:nvPr/>
        </p:nvSpPr>
        <p:spPr>
          <a:xfrm>
            <a:off x="4529328" y="4928616"/>
            <a:ext cx="3212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reconciliation, payroll audits, general-ledger posting, and clean audit closeout cycles.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7997952" y="4270248"/>
            <a:ext cx="3614928" cy="16459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7997952" y="4270248"/>
            <a:ext cx="64008" cy="164592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3984" y="4471416"/>
            <a:ext cx="310896" cy="31089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8711184" y="4407408"/>
            <a:ext cx="2810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Subgrantee Oversight</a:t>
            </a:r>
            <a:endParaRPr lang="en-US" sz="1600" dirty="0"/>
          </a:p>
        </p:txBody>
      </p:sp>
      <p:sp>
        <p:nvSpPr>
          <p:cNvPr id="40" name="Text 32"/>
          <p:cNvSpPr/>
          <p:nvPr/>
        </p:nvSpPr>
        <p:spPr>
          <a:xfrm>
            <a:off x="8253984" y="4928616"/>
            <a:ext cx="32125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liaison for subgrantees; compliance oversight and budget monitoring, reducing reporting errors.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FFF1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F1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BIG NUMBER — PUBLIC FUNDS UNDER MANAGEMENT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&amp; RECONCILED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7680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spc="-800" kern="0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</a:t>
            </a:r>
            <a:pPr algn="l" indent="0" marL="0">
              <a:buNone/>
            </a:pPr>
            <a:r>
              <a:rPr lang="en-US" sz="20000" spc="-8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algn="l" indent="0" marL="0">
              <a:buNone/>
            </a:pPr>
            <a:r>
              <a:rPr lang="en-US" sz="20000" i="1" spc="-800" kern="0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buNone/>
            </a:pPr>
            <a:r>
              <a:rPr lang="en-US" sz="20000" spc="-8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0000" dirty="0"/>
          </a:p>
        </p:txBody>
      </p:sp>
      <p:sp>
        <p:nvSpPr>
          <p:cNvPr id="8" name="Shape 6"/>
          <p:cNvSpPr/>
          <p:nvPr/>
        </p:nvSpPr>
        <p:spPr>
          <a:xfrm>
            <a:off x="8503920" y="1371600"/>
            <a:ext cx="0" cy="420624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32520" y="1737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funds managed and reconciled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inside the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AZ360 State Accounting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system — covering payments, transfers, and audits across State and Federal fiscal cycles.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37856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006840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GAAP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332720" y="37673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 Standard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433425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006840" y="4297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SAAM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0332720" y="4315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Regulation</a:t>
            </a:r>
            <a:endParaRPr lang="en-US" sz="9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4882896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06840" y="48463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AZ360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0332720" y="4864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of Record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F1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AZ360 STATE ACCOUNTING SYSTEM  ·  FY 2021 – PRESENT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/  04 of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— ANNUAL STAKEHOLDER EVENT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05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indent="0" marL="0">
              <a:buNone/>
            </a:pPr>
            <a:r>
              <a:rPr lang="en-US" sz="32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chronic loss</a:t>
            </a:r>
            <a:pPr indent="0" marL="0">
              <a:buNone/>
            </a:pPr>
            <a:r>
              <a:rPr lang="en-US" sz="32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</a:t>
            </a:r>
            <a:pPr indent="0" marL="0">
              <a:buNone/>
            </a:pPr>
            <a:r>
              <a:rPr lang="en-US" sz="3200" i="1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self-funding surplus.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$60K ANNUAL EVENT  ·  FOUR-YEAR P&amp;L TURNAROUND  ·  DIRECTED BY T. McCOY</a:t>
            </a:r>
            <a:endParaRPr lang="en-US" sz="10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48640" y="210312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7680960" y="2103120"/>
            <a:ext cx="3931920" cy="3977640"/>
          </a:xfrm>
          <a:prstGeom prst="rect">
            <a:avLst/>
          </a:prstGeom>
          <a:solidFill>
            <a:srgbClr val="0B0B0A"/>
          </a:solidFill>
          <a:ln w="12700">
            <a:solidFill>
              <a:srgbClr val="0B0B0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09560" y="22860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TURNAROUND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909560" y="26060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spc="-2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Y4</a:t>
            </a:r>
            <a:endParaRPr lang="en-US" sz="7200" dirty="0"/>
          </a:p>
        </p:txBody>
      </p:sp>
      <p:sp>
        <p:nvSpPr>
          <p:cNvPr id="15" name="Text 12"/>
          <p:cNvSpPr/>
          <p:nvPr/>
        </p:nvSpPr>
        <p:spPr>
          <a:xfrm>
            <a:off x="790956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SURPLUS ACHIEVED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909560" y="39776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Reversed multi-year loss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Reached surplus by year four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i="1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Carryover funds next year's event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909560" y="5806440"/>
            <a:ext cx="3474720" cy="0"/>
          </a:xfrm>
          <a:prstGeom prst="line">
            <a:avLst/>
          </a:prstGeom>
          <a:noFill/>
          <a:ln w="12700">
            <a:solidFill>
              <a:srgbClr val="C8A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09560" y="58704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Fully self-funding by Y4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— GOVERNOR'S OFFICE TRAVEL BUDGET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06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Ninety-five percent of trips: </a:t>
            </a:r>
            <a:pPr indent="0" marL="0">
              <a:buNone/>
            </a:pPr>
            <a:r>
              <a:rPr lang="en-US" sz="32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budget.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ENTERPRISE &amp; ADTRAV BOOKINGS  ·  BUDGET &amp; POLICY FRAMEWORK  ·  BUILT BY T. McCOY</a:t>
            </a:r>
            <a:endParaRPr lang="en-US" sz="10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965960"/>
          <a:ext cx="45720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914400" y="3291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spc="-3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91440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BUDGET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212080" y="2011680"/>
            <a:ext cx="3108960" cy="196596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40680" y="21945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-2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440680" y="3090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 LINE ITEMS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40680" y="33649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against policy across the fiscal year.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458200" y="2011680"/>
            <a:ext cx="3108960" cy="196596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21945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-2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8686800" y="3090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BUDGET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686800" y="33649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rate across Governor's Office travel.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212080" y="4114800"/>
            <a:ext cx="3108960" cy="196596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40680" y="4297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-2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800" dirty="0"/>
          </a:p>
        </p:txBody>
      </p:sp>
      <p:sp>
        <p:nvSpPr>
          <p:cNvPr id="24" name="Text 21"/>
          <p:cNvSpPr/>
          <p:nvPr/>
        </p:nvSpPr>
        <p:spPr>
          <a:xfrm>
            <a:off x="5440680" y="5193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COMPLIANT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440680" y="546811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reimbursement reviewed against state/federal rules.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458200" y="4114800"/>
            <a:ext cx="3108960" cy="196596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0" y="4297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-2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4800" dirty="0"/>
          </a:p>
        </p:txBody>
      </p:sp>
      <p:sp>
        <p:nvSpPr>
          <p:cNvPr id="28" name="Text 25"/>
          <p:cNvSpPr/>
          <p:nvPr/>
        </p:nvSpPr>
        <p:spPr>
          <a:xfrm>
            <a:off x="8686800" y="5193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FINDINGS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686800" y="546811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closeouts on travel reconciliation.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SYSTEMS &amp; TOOLS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07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buNone/>
            </a:pPr>
            <a:r>
              <a:rPr lang="en-US" sz="36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 rack.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8640" y="1691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SYSTEMS BEHIND THE LEDGER — DAILY TOOLCHAIN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35966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48840"/>
            <a:ext cx="3596640" cy="128016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2496312"/>
            <a:ext cx="640080" cy="640080"/>
          </a:xfrm>
          <a:prstGeom prst="ellipse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642616"/>
            <a:ext cx="347472" cy="34747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554480" y="245973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AZ360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554480" y="292608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EXPERT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" y="3291840"/>
            <a:ext cx="304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Accounting system — payments, transfers, HRIS travel claims, AP/AR, and full audit trails.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282440" y="2148840"/>
            <a:ext cx="35966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82440" y="2148840"/>
            <a:ext cx="3596640" cy="128016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20" name="Shape 17"/>
          <p:cNvSpPr/>
          <p:nvPr/>
        </p:nvSpPr>
        <p:spPr>
          <a:xfrm>
            <a:off x="4556760" y="2496312"/>
            <a:ext cx="640080" cy="640080"/>
          </a:xfrm>
          <a:prstGeom prst="ellipse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4" y="2642616"/>
            <a:ext cx="347472" cy="34747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88280" y="245973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BI</a:t>
            </a:r>
            <a:endParaRPr lang="en-US" sz="2200" dirty="0"/>
          </a:p>
        </p:txBody>
      </p:sp>
      <p:sp>
        <p:nvSpPr>
          <p:cNvPr id="23" name="Text 19"/>
          <p:cNvSpPr/>
          <p:nvPr/>
        </p:nvSpPr>
        <p:spPr>
          <a:xfrm>
            <a:off x="5288280" y="292608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PROFICIENT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4556760" y="3291840"/>
            <a:ext cx="304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 dashboards, allocation tracking, and executive-facing visualizations.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8016240" y="2148840"/>
            <a:ext cx="35966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16240" y="2148840"/>
            <a:ext cx="3596640" cy="128016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27" name="Shape 23"/>
          <p:cNvSpPr/>
          <p:nvPr/>
        </p:nvSpPr>
        <p:spPr>
          <a:xfrm>
            <a:off x="8290560" y="2496312"/>
            <a:ext cx="640080" cy="640080"/>
          </a:xfrm>
          <a:prstGeom prst="ellipse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6864" y="2642616"/>
            <a:ext cx="347472" cy="34747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9022080" y="245973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Smartsheet</a:t>
            </a:r>
            <a:endParaRPr lang="en-US" sz="2200" dirty="0"/>
          </a:p>
        </p:txBody>
      </p:sp>
      <p:sp>
        <p:nvSpPr>
          <p:cNvPr id="30" name="Text 25"/>
          <p:cNvSpPr/>
          <p:nvPr/>
        </p:nvSpPr>
        <p:spPr>
          <a:xfrm>
            <a:off x="9022080" y="292608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PROFICIENT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8290560" y="3291840"/>
            <a:ext cx="304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tracking, grant allocation logs, and multi-stakeholder trackers.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48640" y="4224528"/>
            <a:ext cx="35966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48640" y="4224528"/>
            <a:ext cx="3596640" cy="128016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34" name="Shape 29"/>
          <p:cNvSpPr/>
          <p:nvPr/>
        </p:nvSpPr>
        <p:spPr>
          <a:xfrm>
            <a:off x="822960" y="4572000"/>
            <a:ext cx="640080" cy="640080"/>
          </a:xfrm>
          <a:prstGeom prst="ellipse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718304"/>
            <a:ext cx="347472" cy="34747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554480" y="4535424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 Access</a:t>
            </a:r>
            <a:endParaRPr lang="en-US" sz="2200" dirty="0"/>
          </a:p>
        </p:txBody>
      </p:sp>
      <p:sp>
        <p:nvSpPr>
          <p:cNvPr id="37" name="Text 31"/>
          <p:cNvSpPr/>
          <p:nvPr/>
        </p:nvSpPr>
        <p:spPr>
          <a:xfrm>
            <a:off x="1554480" y="5001768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PROFICIENT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822960" y="5367528"/>
            <a:ext cx="304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database queries, W-2 reconciliation, and tax-software backends.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4282440" y="4224528"/>
            <a:ext cx="35966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4282440" y="4224528"/>
            <a:ext cx="3596640" cy="128016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41" name="Shape 35"/>
          <p:cNvSpPr/>
          <p:nvPr/>
        </p:nvSpPr>
        <p:spPr>
          <a:xfrm>
            <a:off x="4556760" y="4572000"/>
            <a:ext cx="640080" cy="640080"/>
          </a:xfrm>
          <a:prstGeom prst="ellipse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064" y="4718304"/>
            <a:ext cx="347472" cy="347472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288280" y="4535424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 Excel</a:t>
            </a:r>
            <a:endParaRPr lang="en-US" sz="2200" dirty="0"/>
          </a:p>
        </p:txBody>
      </p:sp>
      <p:sp>
        <p:nvSpPr>
          <p:cNvPr id="44" name="Text 37"/>
          <p:cNvSpPr/>
          <p:nvPr/>
        </p:nvSpPr>
        <p:spPr>
          <a:xfrm>
            <a:off x="5288280" y="5001768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EXPERT</a:t>
            </a:r>
            <a:endParaRPr lang="en-US" sz="800" dirty="0"/>
          </a:p>
        </p:txBody>
      </p:sp>
      <p:sp>
        <p:nvSpPr>
          <p:cNvPr id="45" name="Text 38"/>
          <p:cNvSpPr/>
          <p:nvPr/>
        </p:nvSpPr>
        <p:spPr>
          <a:xfrm>
            <a:off x="4556760" y="5367528"/>
            <a:ext cx="304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tables, SUMIFS-driven reporting, budget models, and 12-month reconciliations.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8016240" y="4224528"/>
            <a:ext cx="3596640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8016240" y="4224528"/>
            <a:ext cx="3596640" cy="128016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48" name="Shape 41"/>
          <p:cNvSpPr/>
          <p:nvPr/>
        </p:nvSpPr>
        <p:spPr>
          <a:xfrm>
            <a:off x="8290560" y="4572000"/>
            <a:ext cx="640080" cy="640080"/>
          </a:xfrm>
          <a:prstGeom prst="ellipse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6864" y="4718304"/>
            <a:ext cx="347472" cy="347472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9022080" y="4535424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GAAP / SAAM</a:t>
            </a:r>
            <a:endParaRPr lang="en-US" sz="2200" dirty="0"/>
          </a:p>
        </p:txBody>
      </p:sp>
      <p:sp>
        <p:nvSpPr>
          <p:cNvPr id="51" name="Text 43"/>
          <p:cNvSpPr/>
          <p:nvPr/>
        </p:nvSpPr>
        <p:spPr>
          <a:xfrm>
            <a:off x="9022080" y="5001768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52" name="Text 44"/>
          <p:cNvSpPr/>
          <p:nvPr/>
        </p:nvSpPr>
        <p:spPr>
          <a:xfrm>
            <a:off x="8290560" y="5367528"/>
            <a:ext cx="304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frameworks for State and Federal fund reporting — applied daily.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 &amp; CREDENTIALS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08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</a:t>
            </a:r>
            <a:pPr indent="0" marL="0">
              <a:buNone/>
            </a:pPr>
            <a:r>
              <a:rPr lang="en-US" sz="36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full-ride </a:t>
            </a:r>
            <a:pPr indent="0" marL="0">
              <a:buNone/>
            </a:pPr>
            <a:r>
              <a:rPr lang="en-US" sz="36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an </a:t>
            </a:r>
            <a:pPr indent="0" marL="0">
              <a:buNone/>
            </a:pPr>
            <a:r>
              <a:rPr lang="en-US" sz="3600" i="1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MBA.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8640" y="1691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ACADEMIC BACKGROUND  ·  HONORS  ·  PROFESSIONAL CREDENTIALS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5532120" cy="3017520"/>
          </a:xfrm>
          <a:prstGeom prst="rect">
            <a:avLst/>
          </a:prstGeom>
          <a:solidFill>
            <a:srgbClr val="0B0B0A"/>
          </a:solidFill>
          <a:ln w="12700">
            <a:solidFill>
              <a:srgbClr val="0B0B0A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2316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7160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GRADUATE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77240" y="301752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of </a:t>
            </a:r>
            <a:pPr indent="0" marL="0">
              <a:buNone/>
            </a:pPr>
            <a:r>
              <a:rPr lang="en-US" sz="2800" spc="-1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endParaRPr lang="en-US" sz="2800" dirty="0"/>
          </a:p>
          <a:p>
            <a:pPr indent="0" marL="0">
              <a:buNone/>
            </a:pPr>
            <a:r>
              <a:rPr lang="en-US" sz="2800" spc="-1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Administration</a:t>
            </a:r>
            <a:endParaRPr lang="en-US" sz="2800" dirty="0"/>
          </a:p>
          <a:p>
            <a:pPr indent="0" marL="0">
              <a:buNone/>
            </a:pPr>
            <a:r>
              <a:rPr lang="en-US" sz="2800" i="1" spc="-100" kern="0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Emphasis in Finance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777240" y="4663440"/>
            <a:ext cx="4846320" cy="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8006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F1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GRAND CANYON UNIVERSITY  ·  PHOENIX, AZ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2148840"/>
            <a:ext cx="5349240" cy="301752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23160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08660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UNDERGRADUATE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492240" y="30175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B.S. Business </a:t>
            </a:r>
            <a:pPr indent="0" marL="0">
              <a:buNone/>
            </a:pPr>
            <a:r>
              <a:rPr lang="en-US" sz="2200" i="1" spc="-5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</a:t>
            </a:r>
            <a:endParaRPr lang="en-US" sz="2200" dirty="0"/>
          </a:p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Minor, Mathematics</a:t>
            </a:r>
            <a:endParaRPr lang="en-US" sz="2200" dirty="0"/>
          </a:p>
          <a:p>
            <a:pPr indent="0" marL="0">
              <a:buNone/>
            </a:pPr>
            <a:r>
              <a:rPr lang="en-US" sz="2200" spc="-5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Certificate, Investments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492240" y="4453128"/>
            <a:ext cx="1177747" cy="246888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22" name="Text 18"/>
          <p:cNvSpPr/>
          <p:nvPr/>
        </p:nvSpPr>
        <p:spPr>
          <a:xfrm>
            <a:off x="6492240" y="4453128"/>
            <a:ext cx="117774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3× DEAN'S LIST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7743139" y="4453128"/>
            <a:ext cx="1572768" cy="246888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24" name="Text 20"/>
          <p:cNvSpPr/>
          <p:nvPr/>
        </p:nvSpPr>
        <p:spPr>
          <a:xfrm>
            <a:off x="7743139" y="4453128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LUMBERJACK FULL RIDE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9389059" y="4453128"/>
            <a:ext cx="519379" cy="246888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26" name="Text 22"/>
          <p:cNvSpPr/>
          <p:nvPr/>
        </p:nvSpPr>
        <p:spPr>
          <a:xfrm>
            <a:off x="9389059" y="4453128"/>
            <a:ext cx="51937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NSCS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9981590" y="4453128"/>
            <a:ext cx="716890" cy="246888"/>
          </a:xfrm>
          <a:prstGeom prst="rect">
            <a:avLst/>
          </a:prstGeom>
          <a:solidFill>
            <a:srgbClr val="0B0B0A"/>
          </a:solidFill>
          <a:ln/>
        </p:spPr>
      </p:sp>
      <p:sp>
        <p:nvSpPr>
          <p:cNvPr id="28" name="Text 24"/>
          <p:cNvSpPr/>
          <p:nvPr/>
        </p:nvSpPr>
        <p:spPr>
          <a:xfrm>
            <a:off x="9981590" y="4453128"/>
            <a:ext cx="7168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1ST-GEN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6492240" y="4846320"/>
            <a:ext cx="4892040" cy="0"/>
          </a:xfrm>
          <a:prstGeom prst="line">
            <a:avLst/>
          </a:prstGeom>
          <a:noFill/>
          <a:ln w="6350">
            <a:solidFill>
              <a:srgbClr val="0B0B0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92240" y="4937760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NORTHERN ARIZONA UNIVERSITY  ·  FLAGSTAFF, AZ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solidFill>
            <a:srgbClr val="FFF1E5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394960"/>
            <a:ext cx="73152" cy="822960"/>
          </a:xfrm>
          <a:prstGeom prst="rect">
            <a:avLst/>
          </a:prstGeom>
          <a:solidFill>
            <a:srgbClr val="A0032A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77840"/>
            <a:ext cx="457200" cy="45720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71600" y="5486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CREDENTIALS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1371600" y="5760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 &amp; Health Insurance License  ·  Deloitte FastTrack Sales Course  ·  CPA Candidate (Pennsylvania pathway)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1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CAREER TIMELINE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64240" cy="0"/>
          </a:xfrm>
          <a:prstGeom prst="line">
            <a:avLst/>
          </a:prstGeom>
          <a:noFill/>
          <a:ln w="9525">
            <a:solidFill>
              <a:srgbClr val="0B0B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tpmccoy2020@gmail.com  ·  480.828.1125  ·  Gilbert, 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06640" y="6473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0B0B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№ 01   /   09 of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10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desks. </a:t>
            </a:r>
            <a:pPr indent="0" marL="0">
              <a:buNone/>
            </a:pPr>
            <a:r>
              <a:rPr lang="en-US" sz="3600" i="1" spc="-100" kern="0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years.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8640" y="1691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6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FINANCIAL REPRESENTATIVE TO SENIOR ACCOUNTANT — CHRONOLOGICALLY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3200400"/>
            <a:ext cx="10332720" cy="0"/>
          </a:xfrm>
          <a:prstGeom prst="line">
            <a:avLst/>
          </a:prstGeom>
          <a:noFill/>
          <a:ln w="25400">
            <a:solidFill>
              <a:srgbClr val="0B0B0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64792" y="2999232"/>
            <a:ext cx="402336" cy="402336"/>
          </a:xfrm>
          <a:prstGeom prst="ellipse">
            <a:avLst/>
          </a:prstGeom>
          <a:solidFill>
            <a:srgbClr val="C8A04A"/>
          </a:solidFill>
          <a:ln w="19050">
            <a:solidFill>
              <a:srgbClr val="0B0B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Ch.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194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-3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2020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74320" y="3611880"/>
            <a:ext cx="3383280" cy="269748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65960" y="3401568"/>
            <a:ext cx="0" cy="210312"/>
          </a:xfrm>
          <a:prstGeom prst="line">
            <a:avLst/>
          </a:prstGeom>
          <a:noFill/>
          <a:ln w="12700">
            <a:solidFill>
              <a:srgbClr val="0B0B0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794760"/>
            <a:ext cx="384048" cy="38404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005840" y="3776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Representative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02920" y="4617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Northwestern Mutual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4983480"/>
            <a:ext cx="2926080" cy="0"/>
          </a:xfrm>
          <a:prstGeom prst="line">
            <a:avLst/>
          </a:prstGeom>
          <a:noFill/>
          <a:ln w="6350">
            <a:solidFill>
              <a:srgbClr val="0B0B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5074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financial planning services · scheduled and conducted client meetings · completed FastTrack Sales Course · earned Life &amp; Health Insurance license.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879592" y="2999232"/>
            <a:ext cx="402336" cy="402336"/>
          </a:xfrm>
          <a:prstGeom prst="ellipse">
            <a:avLst/>
          </a:prstGeom>
          <a:solidFill>
            <a:srgbClr val="A0032A"/>
          </a:solidFill>
          <a:ln w="19050">
            <a:solidFill>
              <a:srgbClr val="0B0B0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66360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Ch. II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709160" y="2194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-3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 — MAY 2021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4389120" y="3611880"/>
            <a:ext cx="3383280" cy="269748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80760" y="3401568"/>
            <a:ext cx="0" cy="210312"/>
          </a:xfrm>
          <a:prstGeom prst="line">
            <a:avLst/>
          </a:prstGeom>
          <a:noFill/>
          <a:ln w="12700">
            <a:solidFill>
              <a:srgbClr val="0B0B0A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794760"/>
            <a:ext cx="384048" cy="38404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120640" y="3776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 Delivery Consultant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4617720" y="4617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Deloitte · Internship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617720" y="4983480"/>
            <a:ext cx="2926080" cy="0"/>
          </a:xfrm>
          <a:prstGeom prst="line">
            <a:avLst/>
          </a:prstGeom>
          <a:noFill/>
          <a:ln w="6350">
            <a:solidFill>
              <a:srgbClr val="0B0B0A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617720" y="5074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tax returns for 50+ clients across US, Canada, Mexico, India, UK · reconciled 100+ complex W-2s for top clients using in-house Access-based tax software.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9994392" y="2999232"/>
            <a:ext cx="402336" cy="402336"/>
          </a:xfrm>
          <a:prstGeom prst="ellipse">
            <a:avLst/>
          </a:prstGeom>
          <a:solidFill>
            <a:srgbClr val="0B0B0A"/>
          </a:solidFill>
          <a:ln w="19050">
            <a:solidFill>
              <a:srgbClr val="0B0B0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281160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Ch. III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8823960" y="21945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-3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 2021 — PRESENT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8503920" y="3611880"/>
            <a:ext cx="3383280" cy="2697480"/>
          </a:xfrm>
          <a:prstGeom prst="rect">
            <a:avLst/>
          </a:prstGeom>
          <a:solidFill>
            <a:srgbClr val="F4ECDF"/>
          </a:solidFill>
          <a:ln w="9525">
            <a:solidFill>
              <a:srgbClr val="0B0B0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0195560" y="3401568"/>
            <a:ext cx="0" cy="210312"/>
          </a:xfrm>
          <a:prstGeom prst="line">
            <a:avLst/>
          </a:prstGeom>
          <a:noFill/>
          <a:ln w="12700">
            <a:solidFill>
              <a:srgbClr val="0B0B0A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3794760"/>
            <a:ext cx="384048" cy="38404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9235440" y="3776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B0B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Accountant &amp; Grant Auditor</a:t>
            </a:r>
            <a:endParaRPr lang="en-US" sz="1700" dirty="0"/>
          </a:p>
        </p:txBody>
      </p:sp>
      <p:sp>
        <p:nvSpPr>
          <p:cNvPr id="39" name="Text 34"/>
          <p:cNvSpPr/>
          <p:nvPr/>
        </p:nvSpPr>
        <p:spPr>
          <a:xfrm>
            <a:off x="8732520" y="46177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0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of Arizona · Governor's Office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8732520" y="4983480"/>
            <a:ext cx="2926080" cy="0"/>
          </a:xfrm>
          <a:prstGeom prst="line">
            <a:avLst/>
          </a:prstGeom>
          <a:noFill/>
          <a:ln w="6350">
            <a:solidFill>
              <a:srgbClr val="0B0B0A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8732520" y="5074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$4B+ in public funds managed · full-cycle AP/AR · travel-budget architect (95% under budget) · $60K event loss-to-surplus turnaround · dashboards in Power BI &amp; Smartsheet.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11064240" cy="0"/>
          </a:xfrm>
          <a:prstGeom prst="line">
            <a:avLst/>
          </a:prstGeom>
          <a:noFill/>
          <a:ln w="9525">
            <a:solidFill>
              <a:srgbClr val="FFF1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926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3258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F1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  ·  OPEN 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06640" y="292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LEDGER, VOL. I  ·  FIN.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11247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spc="-500" kern="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</a:t>
            </a:r>
            <a:pPr indent="0" marL="0">
              <a:buNone/>
            </a:pPr>
            <a:r>
              <a:rPr lang="en-US" sz="15000" i="1" spc="-500" kern="0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talk.</a:t>
            </a:r>
            <a:endParaRPr lang="en-US" sz="15000" dirty="0"/>
          </a:p>
        </p:txBody>
      </p:sp>
      <p:sp>
        <p:nvSpPr>
          <p:cNvPr id="8" name="Shape 6"/>
          <p:cNvSpPr/>
          <p:nvPr/>
        </p:nvSpPr>
        <p:spPr>
          <a:xfrm>
            <a:off x="548640" y="3749040"/>
            <a:ext cx="11064240" cy="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6052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3000" y="4114800"/>
            <a:ext cx="313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43000" y="4453128"/>
            <a:ext cx="313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tpmccoy2020@gmail.com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36720" y="3977640"/>
            <a:ext cx="0" cy="173736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160" y="4160520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31080" y="4114800"/>
            <a:ext cx="313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831080" y="4453128"/>
            <a:ext cx="313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480.828.1125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7924800" y="3977640"/>
            <a:ext cx="0" cy="173736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240" y="416052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19160" y="4114800"/>
            <a:ext cx="313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A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8519160" y="4453128"/>
            <a:ext cx="313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1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Gilbert, AZ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to relocation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6350">
            <a:solidFill>
              <a:srgbClr val="FFF1E5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F1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IMPACT PORTFOLIO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425196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A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THOMAS McCOY —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9552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A00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FIN.  ·  EDITION 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Thomas McCoy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Impact Portfolio — Thomas McCoy</dc:title>
  <dc:subject>PptxGenJS Presentation</dc:subject>
  <dc:creator>Thomas McCoy</dc:creator>
  <cp:lastModifiedBy>Thomas McCoy</cp:lastModifiedBy>
  <cp:revision>1</cp:revision>
  <dcterms:created xsi:type="dcterms:W3CDTF">2026-04-18T18:44:49Z</dcterms:created>
  <dcterms:modified xsi:type="dcterms:W3CDTF">2026-04-18T18:44:49Z</dcterms:modified>
</cp:coreProperties>
</file>